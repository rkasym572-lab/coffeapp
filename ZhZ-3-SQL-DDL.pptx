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c8f48035c1472e" /><Relationship Type="http://schemas.openxmlformats.org/officeDocument/2006/relationships/extended-properties" Target="/docProps/app.xml" Id="Rb7c234ec272045ea" /><Relationship Type="http://schemas.openxmlformats.org/officeDocument/2006/relationships/officeDocument" Target="/ppt/presentation.xml" Id="R566f96838c9e42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69e840c2f4410e"/>
  </p:sldMasterIdLst>
  <p:notesMasterIdLst>
    <p:notesMasterId xmlns:r="http://schemas.openxmlformats.org/officeDocument/2006/relationships" r:id="R45d49d5e24ae41d6"/>
  </p:notesMasterIdLst>
  <p:sldIdLst>
    <p:sldId xmlns:r="http://schemas.openxmlformats.org/officeDocument/2006/relationships" id="256" r:id="R50fde758f5e544e8"/>
    <p:sldId xmlns:r="http://schemas.openxmlformats.org/officeDocument/2006/relationships" id="257" r:id="R9312957c7f7748b3"/>
    <p:sldId xmlns:r="http://schemas.openxmlformats.org/officeDocument/2006/relationships" id="258" r:id="Re0e5e6656a824719"/>
    <p:sldId xmlns:r="http://schemas.openxmlformats.org/officeDocument/2006/relationships" id="259" r:id="R9f14044fd9da4d9e"/>
    <p:sldId xmlns:r="http://schemas.openxmlformats.org/officeDocument/2006/relationships" id="260" r:id="R1487f6a575624400"/>
    <p:sldId xmlns:r="http://schemas.openxmlformats.org/officeDocument/2006/relationships" id="261" r:id="R205573563c284191"/>
    <p:sldId xmlns:r="http://schemas.openxmlformats.org/officeDocument/2006/relationships" id="262" r:id="Rbe98c9c696794b86"/>
    <p:sldId xmlns:r="http://schemas.openxmlformats.org/officeDocument/2006/relationships" id="263" r:id="Rf61c37bb25ea4bab"/>
    <p:sldId xmlns:r="http://schemas.openxmlformats.org/officeDocument/2006/relationships" id="264" r:id="R7ef9b797a8824b5a"/>
    <p:sldId xmlns:r="http://schemas.openxmlformats.org/officeDocument/2006/relationships" id="265" r:id="R8df6100094ff4544"/>
    <p:sldId xmlns:r="http://schemas.openxmlformats.org/officeDocument/2006/relationships" id="266" r:id="R21e3b65303404783"/>
    <p:sldId xmlns:r="http://schemas.openxmlformats.org/officeDocument/2006/relationships" id="267" r:id="R58e7c2647eff414d"/>
    <p:sldId xmlns:r="http://schemas.openxmlformats.org/officeDocument/2006/relationships" id="268" r:id="R936afb9e5f8647ad"/>
    <p:sldId xmlns:r="http://schemas.openxmlformats.org/officeDocument/2006/relationships" id="269" r:id="Rd7bb2ce263cd4c7d"/>
    <p:sldId xmlns:r="http://schemas.openxmlformats.org/officeDocument/2006/relationships" id="270" r:id="R68cb0182b3364716"/>
    <p:sldId xmlns:r="http://schemas.openxmlformats.org/officeDocument/2006/relationships" id="271" r:id="Rc2d528ffb80248f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2558a7d0044e9d" /><Relationship Type="http://schemas.openxmlformats.org/officeDocument/2006/relationships/slideMaster" Target="/ppt/slideMasters/slideMaster1.xml" Id="R9769e840c2f4410e" /><Relationship Type="http://schemas.openxmlformats.org/officeDocument/2006/relationships/notesMaster" Target="/ppt/notesMasters/notesMaster1.xml" Id="R45d49d5e24ae41d6" /><Relationship Type="http://schemas.openxmlformats.org/officeDocument/2006/relationships/presProps" Target="/ppt/presProps.xml" Id="Rcba4242612744916" /><Relationship Type="http://schemas.openxmlformats.org/officeDocument/2006/relationships/tableStyles" Target="/ppt/tableStyles.xml" Id="R83f9af9eb7b74783" /><Relationship Type="http://schemas.openxmlformats.org/officeDocument/2006/relationships/slide" Target="/ppt/slides/slide1.xml" Id="R50fde758f5e544e8" /><Relationship Type="http://schemas.openxmlformats.org/officeDocument/2006/relationships/slide" Target="/ppt/slides/slide2.xml" Id="R9312957c7f7748b3" /><Relationship Type="http://schemas.openxmlformats.org/officeDocument/2006/relationships/slide" Target="/ppt/slides/slide3.xml" Id="Re0e5e6656a824719" /><Relationship Type="http://schemas.openxmlformats.org/officeDocument/2006/relationships/slide" Target="/ppt/slides/slide4.xml" Id="R9f14044fd9da4d9e" /><Relationship Type="http://schemas.openxmlformats.org/officeDocument/2006/relationships/slide" Target="/ppt/slides/slide5.xml" Id="R1487f6a575624400" /><Relationship Type="http://schemas.openxmlformats.org/officeDocument/2006/relationships/slide" Target="/ppt/slides/slide6.xml" Id="R205573563c284191" /><Relationship Type="http://schemas.openxmlformats.org/officeDocument/2006/relationships/slide" Target="/ppt/slides/slide7.xml" Id="Rbe98c9c696794b86" /><Relationship Type="http://schemas.openxmlformats.org/officeDocument/2006/relationships/slide" Target="/ppt/slides/slide8.xml" Id="Rf61c37bb25ea4bab" /><Relationship Type="http://schemas.openxmlformats.org/officeDocument/2006/relationships/slide" Target="/ppt/slides/slide9.xml" Id="R7ef9b797a8824b5a" /><Relationship Type="http://schemas.openxmlformats.org/officeDocument/2006/relationships/slide" Target="/ppt/slides/slide10.xml" Id="R8df6100094ff4544" /><Relationship Type="http://schemas.openxmlformats.org/officeDocument/2006/relationships/slide" Target="/ppt/slides/slide11.xml" Id="R21e3b65303404783" /><Relationship Type="http://schemas.openxmlformats.org/officeDocument/2006/relationships/slide" Target="/ppt/slides/slide12.xml" Id="R58e7c2647eff414d" /><Relationship Type="http://schemas.openxmlformats.org/officeDocument/2006/relationships/slide" Target="/ppt/slides/slide13.xml" Id="R936afb9e5f8647ad" /><Relationship Type="http://schemas.openxmlformats.org/officeDocument/2006/relationships/slide" Target="/ppt/slides/slide14.xml" Id="Rd7bb2ce263cd4c7d" /><Relationship Type="http://schemas.openxmlformats.org/officeDocument/2006/relationships/slide" Target="/ppt/slides/slide15.xml" Id="R68cb0182b3364716" /><Relationship Type="http://schemas.openxmlformats.org/officeDocument/2006/relationships/slide" Target="/ppt/slides/slide16.xml" Id="Rc2d528ffb80248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9927dca1b44e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8e61cc5d664aad" /><Relationship Type="http://schemas.openxmlformats.org/officeDocument/2006/relationships/notesMaster" Target="/ppt/notesMasters/notesMaster1.xml" Id="R1aa92e4d24d640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968cb490304abe" /><Relationship Type="http://schemas.openxmlformats.org/officeDocument/2006/relationships/notesMaster" Target="/ppt/notesMasters/notesMaster1.xml" Id="Rb530d4f005cb42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626e67a058d4c04" /><Relationship Type="http://schemas.openxmlformats.org/officeDocument/2006/relationships/notesMaster" Target="/ppt/notesMasters/notesMaster1.xml" Id="R33da47d86a8149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71c85b764e451c" /><Relationship Type="http://schemas.openxmlformats.org/officeDocument/2006/relationships/notesMaster" Target="/ppt/notesMasters/notesMaster1.xml" Id="Rcc12521c9ef6440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1268349386e4d77" /><Relationship Type="http://schemas.openxmlformats.org/officeDocument/2006/relationships/notesMaster" Target="/ppt/notesMasters/notesMaster1.xml" Id="Ra93d39e2579c48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be5dc182e314e98" /><Relationship Type="http://schemas.openxmlformats.org/officeDocument/2006/relationships/notesMaster" Target="/ppt/notesMasters/notesMaster1.xml" Id="R1cc7e21f26b34bc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aeaebf7d234e5c" /><Relationship Type="http://schemas.openxmlformats.org/officeDocument/2006/relationships/notesMaster" Target="/ppt/notesMasters/notesMaster1.xml" Id="R695349d073924b7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f2b1a881f0459e" /><Relationship Type="http://schemas.openxmlformats.org/officeDocument/2006/relationships/notesMaster" Target="/ppt/notesMasters/notesMaster1.xml" Id="R9d5e2137f3834d9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f1ead306eac44aa" /><Relationship Type="http://schemas.openxmlformats.org/officeDocument/2006/relationships/notesMaster" Target="/ppt/notesMasters/notesMaster1.xml" Id="R5d4e7c331701494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3b29340378444e7" /><Relationship Type="http://schemas.openxmlformats.org/officeDocument/2006/relationships/notesMaster" Target="/ppt/notesMasters/notesMaster1.xml" Id="Re9965e2dd38c4eb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0fa7762ff6a453a" /><Relationship Type="http://schemas.openxmlformats.org/officeDocument/2006/relationships/notesMaster" Target="/ppt/notesMasters/notesMaster1.xml" Id="Rf499cf5f74b04a6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dcb8c02a7e34f4c" /><Relationship Type="http://schemas.openxmlformats.org/officeDocument/2006/relationships/notesMaster" Target="/ppt/notesMasters/notesMaster1.xml" Id="Rcef01853bccd483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1a4691e350f4e96" /><Relationship Type="http://schemas.openxmlformats.org/officeDocument/2006/relationships/notesMaster" Target="/ppt/notesMasters/notesMaster1.xml" Id="R581a6731f3f0472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84ad172d5834de7" /><Relationship Type="http://schemas.openxmlformats.org/officeDocument/2006/relationships/notesMaster" Target="/ppt/notesMasters/notesMaster1.xml" Id="Rdf73a3b9733b4c8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3ac3e4aaff74ad9" /><Relationship Type="http://schemas.openxmlformats.org/officeDocument/2006/relationships/notesMaster" Target="/ppt/notesMasters/notesMaster1.xml" Id="R835238a662db47f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c57784fdf65453e" /><Relationship Type="http://schemas.openxmlformats.org/officeDocument/2006/relationships/notesMaster" Target="/ppt/notesMasters/notesMaster1.xml" Id="R91c4243755494b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d23bbaed7e4b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4d2961ecb640f8" /><Relationship Type="http://schemas.openxmlformats.org/officeDocument/2006/relationships/slideLayout" Target="/ppt/slideLayouts/slideLayout1.xml" Id="R5911f8a64c1b45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11f8a64c1b45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d2545498bd4a30" /><Relationship Type="http://schemas.openxmlformats.org/officeDocument/2006/relationships/image" Target="/ppt/media/image.png" Id="R5ec8fbe1d6954049" /><Relationship Type="http://schemas.openxmlformats.org/officeDocument/2006/relationships/image" Target="/ppt/media/image2.png" Id="Rd2ae27bb2f0a483d" /><Relationship Type="http://schemas.openxmlformats.org/officeDocument/2006/relationships/notesSlide" Target="/ppt/notesSlides/notesSlide1.xml" Id="R0555889a1f7d4e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a5bce05cb1491b" /><Relationship Type="http://schemas.openxmlformats.org/officeDocument/2006/relationships/image" Target="/ppt/media/image3.png" Id="Rc5ed3369178748f2" /><Relationship Type="http://schemas.openxmlformats.org/officeDocument/2006/relationships/notesSlide" Target="/ppt/notesSlides/notesSlide2.xml" Id="Red06012b0dcd44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b12391fc454e98" /><Relationship Type="http://schemas.openxmlformats.org/officeDocument/2006/relationships/image" Target="/ppt/media/image4.png" Id="R60d9071a3b7f47fb" /><Relationship Type="http://schemas.openxmlformats.org/officeDocument/2006/relationships/notesSlide" Target="/ppt/notesSlides/notesSlide3.xml" Id="R2b4fec0b6b0e42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c04e874a80469f" /><Relationship Type="http://schemas.openxmlformats.org/officeDocument/2006/relationships/image" Target="/ppt/media/image5.png" Id="R3b637068d2754842" /><Relationship Type="http://schemas.openxmlformats.org/officeDocument/2006/relationships/notesSlide" Target="/ppt/notesSlides/notesSlide4.xml" Id="R65aacf47e74340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3f552fd40f4cee" /><Relationship Type="http://schemas.openxmlformats.org/officeDocument/2006/relationships/image" Target="/ppt/media/image6.png" Id="R8087a8e9d7e44f01" /><Relationship Type="http://schemas.openxmlformats.org/officeDocument/2006/relationships/image" Target="/ppt/media/image7.png" Id="Rf8e3cf1392244edd" /><Relationship Type="http://schemas.openxmlformats.org/officeDocument/2006/relationships/notesSlide" Target="/ppt/notesSlides/notesSlide5.xml" Id="Rcc269db7e96a43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cc98f23dea481c" /><Relationship Type="http://schemas.openxmlformats.org/officeDocument/2006/relationships/image" Target="/ppt/media/image8.png" Id="R69b1089d36614ed0" /><Relationship Type="http://schemas.openxmlformats.org/officeDocument/2006/relationships/notesSlide" Target="/ppt/notesSlides/notesSlide6.xml" Id="R4e66bbd7fa2d4d9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304c0291f54f33" /><Relationship Type="http://schemas.openxmlformats.org/officeDocument/2006/relationships/image" Target="/ppt/media/image9.png" Id="R4312140b4e834b3d" /><Relationship Type="http://schemas.openxmlformats.org/officeDocument/2006/relationships/notesSlide" Target="/ppt/notesSlides/notesSlide7.xml" Id="R99293ed5480c458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a9985ede6a418d" /><Relationship Type="http://schemas.openxmlformats.org/officeDocument/2006/relationships/image" Target="/ppt/media/image10.png" Id="R1657e46784274e28" /><Relationship Type="http://schemas.openxmlformats.org/officeDocument/2006/relationships/notesSlide" Target="/ppt/notesSlides/notesSlide8.xml" Id="Rd3d75dee3e4f438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ccb2df8c8047c0" /><Relationship Type="http://schemas.openxmlformats.org/officeDocument/2006/relationships/image" Target="/ppt/media/image11.png" Id="R46c3916de8b94b95" /><Relationship Type="http://schemas.openxmlformats.org/officeDocument/2006/relationships/notesSlide" Target="/ppt/notesSlides/notesSlide9.xml" Id="Rd00c9ef280704e6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5e8192b78647b3" /><Relationship Type="http://schemas.openxmlformats.org/officeDocument/2006/relationships/image" Target="/ppt/media/image12.png" Id="R6268dc1ae00b4d01" /><Relationship Type="http://schemas.openxmlformats.org/officeDocument/2006/relationships/notesSlide" Target="/ppt/notesSlides/notesSlide10.xml" Id="R4f6d72dd40b642b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5c7d63bafb4c7d" /><Relationship Type="http://schemas.openxmlformats.org/officeDocument/2006/relationships/image" Target="/ppt/media/image13.png" Id="R5e5bf4bb11cf49c5" /><Relationship Type="http://schemas.openxmlformats.org/officeDocument/2006/relationships/notesSlide" Target="/ppt/notesSlides/notesSlide11.xml" Id="R2c710647b63744f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695abed0854239" /><Relationship Type="http://schemas.openxmlformats.org/officeDocument/2006/relationships/image" Target="/ppt/media/image14.png" Id="R84ff43065cf74a63" /><Relationship Type="http://schemas.openxmlformats.org/officeDocument/2006/relationships/notesSlide" Target="/ppt/notesSlides/notesSlide12.xml" Id="R2583417b7cce4ac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500a7032ab4434" /><Relationship Type="http://schemas.openxmlformats.org/officeDocument/2006/relationships/image" Target="/ppt/media/image15.png" Id="Rdb0046af1e304cd8" /><Relationship Type="http://schemas.openxmlformats.org/officeDocument/2006/relationships/image" Target="/ppt/media/image16.png" Id="R894c78a77a7b49d8" /><Relationship Type="http://schemas.openxmlformats.org/officeDocument/2006/relationships/notesSlide" Target="/ppt/notesSlides/notesSlide13.xml" Id="Re507c6e460f74e7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cb081162854aa9" /><Relationship Type="http://schemas.openxmlformats.org/officeDocument/2006/relationships/image" Target="/ppt/media/image17.png" Id="Ra78d9bc3659346e3" /><Relationship Type="http://schemas.openxmlformats.org/officeDocument/2006/relationships/notesSlide" Target="/ppt/notesSlides/notesSlide14.xml" Id="Rb1aa7bc26f21442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b4a690a3414383" /><Relationship Type="http://schemas.openxmlformats.org/officeDocument/2006/relationships/image" Target="/ppt/media/image18.png" Id="R4c660a3eb35549de" /><Relationship Type="http://schemas.openxmlformats.org/officeDocument/2006/relationships/notesSlide" Target="/ppt/notesSlides/notesSlide15.xml" Id="R4f401b4596d1472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109ce243954174" /><Relationship Type="http://schemas.openxmlformats.org/officeDocument/2006/relationships/image" Target="/ppt/media/image19.png" Id="Ra92f575609a94872" /><Relationship Type="http://schemas.openxmlformats.org/officeDocument/2006/relationships/notesSlide" Target="/ppt/notesSlides/notesSlide16.xml" Id="R36827c9ff5b445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c8fbe1d6954049"/>
          <a:srcRect xmlns:a="http://schemas.openxmlformats.org/drawingml/2006/main" l="0" t="11037" r="0" b="110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1290CE-E114-4EE3-A949-87C682AE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67D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867D1"/>
                </a:solidFill>
                <a:latin typeface="DejaVu Sans"/>
                <a:ea typeface="DejaVu Sans"/>
                <a:cs typeface="DejaVu Sans"/>
              </a:rPr>
              <a:t>ЗЕРТХАНАЛЫҚ ЖҰМЫС №3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A4C78A-2C87-4FFC-A3D9-B96FF89A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5905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SQL құралдарымен кестелерді, кілттерді, байланыстар мен шектеулерді құру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78E881-5961-4437-AB2C-5AE9C90B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52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7184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E7184"/>
                </a:solidFill>
                <a:latin typeface="DejaVu Sans"/>
                <a:ea typeface="DejaVu Sans"/>
                <a:cs typeface="DejaVu Sans"/>
              </a:rPr>
              <a:t>PostgreSQL · SQL DDL · CREATE · ALTER · DROP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892F6A-A8B9-4EC9-9057-2C0839FD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38675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67D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0C7920-8EC5-4860-BD77-CE8345AD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561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Теориялық түсінік және практикалық SQL мысалдары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ae27bb2f0a483d"/>
          <a:stretch xmlns:a="http://schemas.openxmlformats.org/drawingml/2006/main"/>
        </p:blipFill>
        <p:spPr>
          <a:xfrm xmlns:a="http://schemas.openxmlformats.org/drawingml/2006/main">
            <a:off x="685800" y="5906106"/>
            <a:ext cx="1162050" cy="66553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8270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785A72-4FA3-4285-B263-21BBD410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67D1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0867D1"/>
                </a:solidFill>
                <a:latin typeface="DejaVu Sans"/>
                <a:ea typeface="DejaVu Sans"/>
                <a:cs typeface="DejaVu Sans"/>
              </a:rPr>
              <a:t>КІРІСПЕ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CB7AC7-BBEC-46E1-8E7C-F5317B69B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Жұмыстың мақсаты мен нәтижесі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F3B7FF-D144-4876-96A0-173131A1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ed3369178748f2"/>
          <a:stretch xmlns:a="http://schemas.openxmlformats.org/drawingml/2006/main"/>
        </p:blipFill>
        <p:spPr>
          <a:xfrm xmlns:a="http://schemas.openxmlformats.org/drawingml/2006/main">
            <a:off x="10918825" y="6191250"/>
            <a:ext cx="698500" cy="4000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84E8DF-2694-4337-B865-7BC8E4D2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7184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5E7184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2074CF-8A56-4842-8D94-6F8BD87C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02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E7184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E7184"/>
                </a:solidFill>
                <a:latin typeface="DejaVu Sans"/>
                <a:ea typeface="DejaVu Sans"/>
                <a:cs typeface="DejaVu Sans"/>
              </a:rPr>
              <a:t>Сабақ соңында студент PostgreSQL-де деректер қорының құрылымын өздігінен құра алады.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50AA17-858A-4784-8341-EF4664D9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67D1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867D1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9CE9C9-425D-4BA9-8E0F-C54938E9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288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Кесте құру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83A203-872B-42C6-9BF1-31B63C28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28875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7184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E7184"/>
                </a:solidFill>
                <a:latin typeface="DejaVu Sans"/>
                <a:ea typeface="DejaVu Sans"/>
                <a:cs typeface="DejaVu Sans"/>
              </a:rPr>
              <a:t>CREATE TABLE синтаксисін қолдану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21E272-355C-4EFD-AAFD-0688671D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337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F85459-45E5-4F71-9107-AC225135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67075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67D1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867D1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7C262F-316F-41AC-9026-4A6B5D20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670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Кілттерді орнату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A4C6A1-A333-475A-B41A-18C5034B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67075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7184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E7184"/>
                </a:solidFill>
                <a:latin typeface="DejaVu Sans"/>
                <a:ea typeface="DejaVu Sans"/>
                <a:cs typeface="DejaVu Sans"/>
              </a:rPr>
              <a:t>PRIMARY KEY және FOREIGN KEY құру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DAD008-E294-435C-902E-8F2287C6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719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1373F6-E99A-42D4-AFA3-B3123B99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05275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67D1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867D1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82ABE7-BD05-4746-85EC-87FE020F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052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Тұтастықты сақтау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23DCB7-9122-49F7-9842-D010A629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05275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7184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E7184"/>
                </a:solidFill>
                <a:latin typeface="DejaVu Sans"/>
                <a:ea typeface="DejaVu Sans"/>
                <a:cs typeface="DejaVu Sans"/>
              </a:rPr>
              <a:t>NOT NULL, UNIQUE, CHECK, DEFAULT қолдану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A3CB87-F2D0-42CE-81AC-C9EDA4C5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01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593C45-8FD4-4F75-B92E-EC909EDC3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43475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67D1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867D1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8869F4-F092-4430-9F33-D9D42532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434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Құрылымды басқару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B08CE6-B90A-4521-94F7-B926D480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43475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7184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E7184"/>
                </a:solidFill>
                <a:latin typeface="DejaVu Sans"/>
                <a:ea typeface="DejaVu Sans"/>
                <a:cs typeface="DejaVu Sans"/>
              </a:rPr>
              <a:t>ALTER TABLE, DROP және TRUNCATE орындау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EC3D87-71D4-4CDF-A601-11BA8508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483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2357474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D6D11A-8A6A-47F6-9B24-25DF5F71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FC6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8FC6FF"/>
                </a:solidFill>
                <a:latin typeface="DejaVu Sans"/>
                <a:ea typeface="DejaVu Sans"/>
                <a:cs typeface="DejaVu Sans"/>
              </a:rPr>
              <a:t>ТЕОРИЯ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53CB94-47BB-41AB-BF84-826495F3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SQL DDL командалары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E2149A-2B90-4737-9FED-B70EE1F5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96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E9B37E-368B-47EF-9C64-415E95952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134100"/>
            <a:ext cx="85725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d9071a3b7f47fb"/>
          <a:stretch xmlns:a="http://schemas.openxmlformats.org/drawingml/2006/main"/>
        </p:blipFill>
        <p:spPr>
          <a:xfrm xmlns:a="http://schemas.openxmlformats.org/drawingml/2006/main">
            <a:off x="10918825" y="6191250"/>
            <a:ext cx="698500" cy="4000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F24182-1D3E-4C87-A2B7-D676EABF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FA7B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8FA7BD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B4221B-7223-4538-B29F-AF4E3139A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DD6EA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BDD6EA"/>
                </a:solidFill>
                <a:latin typeface="DejaVu Sans"/>
                <a:ea typeface="DejaVu Sans"/>
                <a:cs typeface="DejaVu Sans"/>
              </a:rPr>
              <a:t>DDL деректердің өзін емес, деректер қорының құрылымын басқарады.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FB9995-EA9C-4314-9279-8449F510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1762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6B4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56B4FF"/>
                </a:solidFill>
                <a:latin typeface="DejaVu Sans"/>
                <a:ea typeface="DejaVu Sans"/>
                <a:cs typeface="DejaVu Sans"/>
              </a:rPr>
              <a:t>CREATE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609A74-2D56-45DE-87FE-888A166E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43150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Жаңа деректер қорын, кестені немесе басқа объектіні құрады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015CAD-8468-4497-9A5C-950D031C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9925"/>
            <a:ext cx="1762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6B4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56B4FF"/>
                </a:solidFill>
                <a:latin typeface="DejaVu Sans"/>
                <a:ea typeface="DejaVu Sans"/>
                <a:cs typeface="DejaVu Sans"/>
              </a:rPr>
              <a:t>ALTER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6A3F2B-ABEF-4C54-8C71-F138D010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09925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Бар объектінің құрылымын өзгертеді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54C986-8CAC-4E55-9564-5EE6A1223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1762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6B4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56B4FF"/>
                </a:solidFill>
                <a:latin typeface="DejaVu Sans"/>
                <a:ea typeface="DejaVu Sans"/>
                <a:cs typeface="DejaVu Sans"/>
              </a:rPr>
              <a:t>DROP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C93C2A-6B2E-4C4C-A639-B97DA13F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76700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Объектіні құрылымымен және мәліметімен бірге жояды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CA6678-9ACE-489D-B748-4B2EC929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43475"/>
            <a:ext cx="1762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6B4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56B4FF"/>
                </a:solidFill>
                <a:latin typeface="DejaVu Sans"/>
                <a:ea typeface="DejaVu Sans"/>
                <a:cs typeface="DejaVu Sans"/>
              </a:rPr>
              <a:t>TRUNCATE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5B2659-04B7-4300-972A-0ED1CD48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43475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Кестені сақтап, оның барлық жолдарын жылдам тазалайды</a:t>
            </a:r>
          </a:p>
        </p:txBody>
      </p:sp>
    </p:spTree>
    <p:extLst>
      <p:ext uri="{BB962C8B-B14F-4D97-AF65-F5344CB8AC3E}">
        <p14:creationId xmlns:p14="http://schemas.microsoft.com/office/powerpoint/2010/main" val="8512258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1B44E9-2591-4EC4-93B8-9A3DD26C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67D1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0867D1"/>
                </a:solidFill>
                <a:latin typeface="DejaVu Sans"/>
                <a:ea typeface="DejaVu Sans"/>
                <a:cs typeface="DejaVu Sans"/>
              </a:rPr>
              <a:t>ТЕОРИЯ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D86888-3789-4110-B37B-B7B86874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PostgreSQL деректер типтері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537182-B6C6-44A7-8E9C-FED2A6A9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637068d2754842"/>
          <a:stretch xmlns:a="http://schemas.openxmlformats.org/drawingml/2006/main"/>
        </p:blipFill>
        <p:spPr>
          <a:xfrm xmlns:a="http://schemas.openxmlformats.org/drawingml/2006/main">
            <a:off x="10918825" y="6191250"/>
            <a:ext cx="698500" cy="4000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517330-865F-40BA-B619-AB2EB74E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7184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5E7184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1647825"/>
          <a:ext xmlns:a="http://schemas.openxmlformats.org/drawingml/2006/main" cx="10972800" cy="40481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714500"/>
                <a:gridCol w="2571750"/>
                <a:gridCol w="4000500"/>
                <a:gridCol w="2686050"/>
              </a:tblGrid>
              <a:tr h="578304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Топ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Типтер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Қолданылуы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Мысал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57830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F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Бүтін сан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F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SMALLINT, INTEGER, BIGINT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F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Санақ, идентификатор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F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student_id INTEGER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830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F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Дәл сан</a:t>
                      </a:r>
                    </a:p>
                  </a:txBody>
                  <a:tcPr marL="91440" marR="91440" marT="45720" marB="45720"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F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NUMERIC(p,s)</a:t>
                      </a:r>
                    </a:p>
                  </a:txBody>
                  <a:tcPr marL="91440" marR="91440" marT="45720" marB="45720"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F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Баға, ақша, өлшем</a:t>
                      </a:r>
                    </a:p>
                  </a:txBody>
                  <a:tcPr marL="91440" marR="91440" marT="45720" marB="45720"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F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price NUMERIC(10,2)</a:t>
                      </a:r>
                    </a:p>
                  </a:txBody>
                  <a:tcPr marL="91440" marR="91440" marT="45720" marB="45720">
                    <a:solidFill>
                      <a:srgbClr val="E8F1FB"/>
                    </a:solidFill>
                  </a:tcPr>
                </a:tc>
              </a:tr>
              <a:tr h="57830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F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Мәтін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F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VARCHAR(n), TEXT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F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Атау, email, сипаттама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F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name VARCHAR(100)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830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F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Күн және уақыт</a:t>
                      </a:r>
                    </a:p>
                  </a:txBody>
                  <a:tcPr marL="91440" marR="91440" marT="45720" marB="45720"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F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DATE, TIMESTAMP</a:t>
                      </a:r>
                    </a:p>
                  </a:txBody>
                  <a:tcPr marL="91440" marR="91440" marT="45720" marB="45720"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F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Туған күн, тіркелу уақыты</a:t>
                      </a:r>
                    </a:p>
                  </a:txBody>
                  <a:tcPr marL="91440" marR="91440" marT="45720" marB="45720"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F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created_at TIMESTAMP</a:t>
                      </a:r>
                    </a:p>
                  </a:txBody>
                  <a:tcPr marL="91440" marR="91440" marT="45720" marB="45720">
                    <a:solidFill>
                      <a:srgbClr val="E8F1FB"/>
                    </a:solidFill>
                  </a:tcPr>
                </a:tc>
              </a:tr>
              <a:tr h="57830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F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Логикалық мән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F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BOOLEAN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F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Белсенді/белсенді емес күйі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F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is_active BOOLEAN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830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F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Арнайы тип</a:t>
                      </a:r>
                    </a:p>
                  </a:txBody>
                  <a:tcPr marL="91440" marR="91440" marT="45720" marB="45720"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F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UUID, JSONB, ARRAY</a:t>
                      </a:r>
                    </a:p>
                  </a:txBody>
                  <a:tcPr marL="91440" marR="91440" marT="45720" marB="45720"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F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Бірегей ID, JSON, тізім</a:t>
                      </a:r>
                    </a:p>
                  </a:txBody>
                  <a:tcPr marL="91440" marR="91440" marT="45720" marB="45720"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F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data JSONB</a:t>
                      </a:r>
                    </a:p>
                  </a:txBody>
                  <a:tcPr marL="91440" marR="91440" marT="45720" marB="45720">
                    <a:solidFill>
                      <a:srgbClr val="E8F1FB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6B6022-A035-4276-A26C-DD8DDA9D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7184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E7184"/>
                </a:solidFill>
                <a:latin typeface="DejaVu Sans"/>
                <a:ea typeface="DejaVu Sans"/>
                <a:cs typeface="DejaVu Sans"/>
              </a:rPr>
              <a:t>Баған типі сақталатын мәнге сәйкес таңдалады. Бұл қате деректерді ерте анықтайды.</a:t>
            </a:r>
          </a:p>
        </p:txBody>
      </p:sp>
    </p:spTree>
    <p:extLst>
      <p:ext uri="{BB962C8B-B14F-4D97-AF65-F5344CB8AC3E}">
        <p14:creationId xmlns:p14="http://schemas.microsoft.com/office/powerpoint/2010/main" val="13244194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4C664B-99CA-4138-8AA9-6C488F3D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67D1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0867D1"/>
                </a:solidFill>
                <a:latin typeface="DejaVu Sans"/>
                <a:ea typeface="DejaVu Sans"/>
                <a:cs typeface="DejaVu Sans"/>
              </a:rPr>
              <a:t>DDL ПРАКТИКАСЫ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389672-B3CD-4D52-971A-6B2626BA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CREATE TABLE командасы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ACFFEA-A94C-432C-A9AE-51C1DADD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87a8e9d7e44f01"/>
          <a:stretch xmlns:a="http://schemas.openxmlformats.org/drawingml/2006/main"/>
        </p:blipFill>
        <p:spPr>
          <a:xfrm xmlns:a="http://schemas.openxmlformats.org/drawingml/2006/main">
            <a:off x="10918825" y="6191250"/>
            <a:ext cx="698500" cy="4000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F24885-23F5-47EF-8423-D7ECA6F0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7184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5E7184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C98B55-1E3C-4BEF-B527-029F77146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71500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F69754-1408-41EF-9269-1ED7A163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5372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4C0F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74C0FC"/>
                </a:solidFill>
                <a:latin typeface="DejaVu Sans"/>
                <a:ea typeface="DejaVu Sans"/>
                <a:cs typeface="DejaVu Sans"/>
              </a:rPr>
              <a:t>ЖАЛПЫ СИНТАКСИС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7A40FC-72E0-4212-B657-9D1C4166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33600"/>
            <a:ext cx="5334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rPr>
              <a:t>CREATE TABLE table_name (</a:t>
            </a:r>
          </a:p>
          <a:p xmlns:a="http://schemas.openxmlformats.org/drawingml/2006/main">
            <a:pPr algn="l">
              <a:defRPr sz="135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rPr>
              <a:t>  column_name data_type constraint,</a:t>
            </a:r>
          </a:p>
          <a:p xmlns:a="http://schemas.openxmlformats.org/drawingml/2006/main">
            <a:pPr algn="l">
              <a:defRPr sz="135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rPr>
              <a:t>  column_name data_type constraint</a:t>
            </a:r>
          </a:p>
          <a:p xmlns:a="http://schemas.openxmlformats.org/drawingml/2006/main">
            <a:pPr algn="l">
              <a:defRPr sz="135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rPr>
              <a:t>);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4D2C4B-E481-4C3E-A3C6-C6AC31CF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5715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F02CBA-5F0C-4BF6-B2B3-D80E0109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0025"/>
            <a:ext cx="5372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4C0F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74C0FC"/>
                </a:solidFill>
                <a:latin typeface="DejaVu Sans"/>
                <a:ea typeface="DejaVu Sans"/>
                <a:cs typeface="DejaVu Sans"/>
              </a:rPr>
              <a:t>МЫСАЛ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840E30-5CFF-4995-B1EC-55967043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95775"/>
            <a:ext cx="53340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rPr>
              <a:t>CREATE TABLE departments (</a:t>
            </a:r>
          </a:p>
          <a:p xmlns:a="http://schemas.openxmlformats.org/drawingml/2006/main">
            <a:pPr algn="l">
              <a:defRPr sz="120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rPr>
              <a:t>  department_id INTEGER GENERATED ALWAYS</a:t>
            </a:r>
          </a:p>
          <a:p xmlns:a="http://schemas.openxmlformats.org/drawingml/2006/main">
            <a:pPr algn="l">
              <a:defRPr sz="120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rPr>
              <a:t>    AS IDENTITY PRIMARY KEY,</a:t>
            </a:r>
          </a:p>
          <a:p xmlns:a="http://schemas.openxmlformats.org/drawingml/2006/main">
            <a:pPr algn="l">
              <a:defRPr sz="120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rPr>
              <a:t>  department_name VARCHAR(100) NOT NULL UNIQUE</a:t>
            </a:r>
          </a:p>
          <a:p xmlns:a="http://schemas.openxmlformats.org/drawingml/2006/main">
            <a:pPr algn="l">
              <a:defRPr sz="120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rPr>
              <a:t>);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e3cf1392244edd"/>
          <a:srcRect xmlns:a="http://schemas.openxmlformats.org/drawingml/2006/main" l="0" t="23365" r="0" b="233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53250" y="1600200"/>
            <a:ext cx="4629150" cy="4381500"/>
          </a:xfrm>
          <a:prstGeom xmlns:a="http://schemas.openxmlformats.org/drawingml/2006/main" prst="roundRect">
            <a:avLst>
              <a:gd name="adj" fmla="val 3043"/>
            </a:avLst>
          </a:prstGeom>
        </p:spPr>
      </p:pic>
    </p:spTree>
    <p:extLst>
      <p:ext uri="{BB962C8B-B14F-4D97-AF65-F5344CB8AC3E}">
        <p14:creationId xmlns:p14="http://schemas.microsoft.com/office/powerpoint/2010/main" val="12432963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160917-9B71-432B-890C-07DFF5037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67D1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0867D1"/>
                </a:solidFill>
                <a:latin typeface="DejaVu Sans"/>
                <a:ea typeface="DejaVu Sans"/>
                <a:cs typeface="DejaVu Sans"/>
              </a:rPr>
              <a:t>КІЛТТЕР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C5AF0A-C670-4E7C-8E2A-2A055C7D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Бастапқы кілт: PRIMARY KEY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CD4931-C135-4CE0-A6DC-3D32056F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b1089d36614ed0"/>
          <a:stretch xmlns:a="http://schemas.openxmlformats.org/drawingml/2006/main"/>
        </p:blipFill>
        <p:spPr>
          <a:xfrm xmlns:a="http://schemas.openxmlformats.org/drawingml/2006/main">
            <a:off x="10918825" y="6191250"/>
            <a:ext cx="698500" cy="4000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B8D3EB-A598-44F4-A914-400F4717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7184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5E7184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3E8546-490E-40BB-9CA6-6229E63EB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PRIMARY KEY кестедегі әр жазбаны бірегей анықтайды.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47E885-5D45-43ED-8C7F-89D13DB8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95550"/>
            <a:ext cx="209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4281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67D1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0867D1"/>
                </a:solidFill>
                <a:latin typeface="DejaVu Sans"/>
                <a:ea typeface="DejaVu Sans"/>
                <a:cs typeface="DejaVu Sans"/>
              </a:rPr>
              <a:t>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0029EF-8860-4810-A073-B15F4EDD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76500"/>
            <a:ext cx="5162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Қайталанатын мәнге рұқсат бермейді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BE8E7A-E3B7-4331-A905-F052FA81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71825"/>
            <a:ext cx="209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4281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67D1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0867D1"/>
                </a:solidFill>
                <a:latin typeface="DejaVu Sans"/>
                <a:ea typeface="DejaVu Sans"/>
                <a:cs typeface="DejaVu Sans"/>
              </a:rPr>
              <a:t>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A023B3-8162-415C-86D6-C502E2A5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52775"/>
            <a:ext cx="5162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NULL мәнін қабылдамайды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62AB42-2210-46F1-B4CD-B8750B33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48100"/>
            <a:ext cx="209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4281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67D1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0867D1"/>
                </a:solidFill>
                <a:latin typeface="DejaVu Sans"/>
                <a:ea typeface="DejaVu Sans"/>
                <a:cs typeface="DejaVu Sans"/>
              </a:rPr>
              <a:t>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25BC5F-E648-48F7-8554-CC03E7FE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29050"/>
            <a:ext cx="5162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Бір кестеде бір PRIMARY KEY болады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6A5A53-BDB1-40C4-A1FF-7DBB5055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24375"/>
            <a:ext cx="209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4281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67D1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0867D1"/>
                </a:solidFill>
                <a:latin typeface="DejaVu Sans"/>
                <a:ea typeface="DejaVu Sans"/>
                <a:cs typeface="DejaVu Sans"/>
              </a:rPr>
              <a:t>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5713E9-2A12-4306-8546-2A21B275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05325"/>
            <a:ext cx="5162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Бір немесе бірнеше бағаннан құралуы мүмкін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8D9F17-C299-4097-985B-0D4F5F28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81250"/>
            <a:ext cx="4572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C8A919-A0C3-4D62-BB1C-DE798B89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14600"/>
            <a:ext cx="422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4C0F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74C0FC"/>
                </a:solidFill>
                <a:latin typeface="DejaVu Sans"/>
                <a:ea typeface="DejaVu Sans"/>
                <a:cs typeface="DejaVu Sans"/>
              </a:rPr>
              <a:t>БІР БАҒАНДЫ КІЛТ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6CFC85-0D40-4994-B0CB-EC28F57F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00350"/>
            <a:ext cx="419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rPr>
              <a:t>student_id INTEGER</a:t>
            </a:r>
          </a:p>
          <a:p xmlns:a="http://schemas.openxmlformats.org/drawingml/2006/main">
            <a:pPr algn="l">
              <a:defRPr sz="1425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rPr>
              <a:t>  GENERATED ALWAYS AS IDENTITY</a:t>
            </a:r>
          </a:p>
          <a:p xmlns:a="http://schemas.openxmlformats.org/drawingml/2006/main">
            <a:pPr algn="l">
              <a:defRPr sz="1425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rPr>
              <a:t>  PRIMARY KEY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C9D4F2-FDA1-43A0-94BC-F20E4C371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81500"/>
            <a:ext cx="45720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1BECB9-1C16-4FA9-8095-FEEA5093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514850"/>
            <a:ext cx="422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4C0F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74C0FC"/>
                </a:solidFill>
                <a:latin typeface="DejaVu Sans"/>
                <a:ea typeface="DejaVu Sans"/>
                <a:cs typeface="DejaVu Sans"/>
              </a:rPr>
              <a:t>ҚҰРАМДАС КІЛТ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831A1B-607D-4D50-BA37-4BCE371A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00600"/>
            <a:ext cx="4191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rPr>
              <a:t>PRIMARY KEY (student_id, subject_id)</a:t>
            </a:r>
          </a:p>
        </p:txBody>
      </p:sp>
    </p:spTree>
    <p:extLst>
      <p:ext uri="{BB962C8B-B14F-4D97-AF65-F5344CB8AC3E}">
        <p14:creationId xmlns:p14="http://schemas.microsoft.com/office/powerpoint/2010/main" val="13792267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1ADB41-FBB6-4487-9A97-A52D68A8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67D1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0867D1"/>
                </a:solidFill>
                <a:latin typeface="DejaVu Sans"/>
                <a:ea typeface="DejaVu Sans"/>
                <a:cs typeface="DejaVu Sans"/>
              </a:rPr>
              <a:t>КІЛТТЕР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2F688C-DE05-4A9D-AE06-B9555AA7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Сыртқы кілт: FOREIGN KEY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E9CA1B-9AE4-4796-8B78-AEE9CEC3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12140b4e834b3d"/>
          <a:stretch xmlns:a="http://schemas.openxmlformats.org/drawingml/2006/main"/>
        </p:blipFill>
        <p:spPr>
          <a:xfrm xmlns:a="http://schemas.openxmlformats.org/drawingml/2006/main">
            <a:off x="10918825" y="6191250"/>
            <a:ext cx="698500" cy="4000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291239-1F97-481E-8DD4-1BC7924C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7184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5E7184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AAC16A-384C-44A9-B11D-9BA86439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814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FOREIGN KEY бір кестедегі мәнді басқа кестенің PRIMARY KEY мәнімен байланыстырады.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91B0F9-516C-461B-ADAC-BBC7A80E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61912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424323-DC23-4AE8-8393-9FB0B093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584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4C0F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74C0FC"/>
                </a:solidFill>
                <a:latin typeface="DejaVu Sans"/>
                <a:ea typeface="DejaVu Sans"/>
                <a:cs typeface="DejaVu Sans"/>
              </a:rPr>
              <a:t>STUDENTS КЕСТЕСІ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256329-5F53-4B51-B330-C3A9FD55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76550"/>
            <a:ext cx="58102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rPr>
              <a:t>CREATE TABLE students (</a:t>
            </a:r>
          </a:p>
          <a:p xmlns:a="http://schemas.openxmlformats.org/drawingml/2006/main">
            <a:pPr algn="l">
              <a:defRPr sz="120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rPr>
              <a:t>  student_id INTEGER PRIMARY KEY,</a:t>
            </a:r>
          </a:p>
          <a:p xmlns:a="http://schemas.openxmlformats.org/drawingml/2006/main">
            <a:pPr algn="l">
              <a:defRPr sz="120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rPr>
              <a:t>  full_name VARCHAR(150) NOT NULL,</a:t>
            </a:r>
          </a:p>
          <a:p xmlns:a="http://schemas.openxmlformats.org/drawingml/2006/main">
            <a:pPr algn="l">
              <a:defRPr sz="120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rPr>
              <a:t>  department_id INTEGER NOT NULL,</a:t>
            </a:r>
          </a:p>
          <a:p xmlns:a="http://schemas.openxmlformats.org/drawingml/2006/main">
            <a:pPr algn="l">
              <a:defRPr sz="120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rPr>
              <a:t>  CONSTRAINT fk_student_department</a:t>
            </a:r>
          </a:p>
          <a:p xmlns:a="http://schemas.openxmlformats.org/drawingml/2006/main">
            <a:pPr algn="l">
              <a:defRPr sz="120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rPr>
              <a:t>    FOREIGN KEY (department_id)</a:t>
            </a:r>
          </a:p>
          <a:p xmlns:a="http://schemas.openxmlformats.org/drawingml/2006/main">
            <a:pPr algn="l">
              <a:defRPr sz="120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rPr>
              <a:t>    REFERENCES departments(department_id)</a:t>
            </a:r>
          </a:p>
          <a:p xmlns:a="http://schemas.openxmlformats.org/drawingml/2006/main">
            <a:pPr algn="l">
              <a:defRPr sz="120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rPr>
              <a:t>    ON DELETE RESTRICT</a:t>
            </a:r>
          </a:p>
          <a:p xmlns:a="http://schemas.openxmlformats.org/drawingml/2006/main">
            <a:pPr algn="l">
              <a:defRPr sz="120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rPr>
              <a:t>);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3CD28E-D0F5-431F-8EEB-31220084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43200"/>
            <a:ext cx="209550" cy="67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4281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67D1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0867D1"/>
                </a:solidFill>
                <a:latin typeface="DejaVu Sans"/>
                <a:ea typeface="DejaVu Sans"/>
                <a:cs typeface="DejaVu Sans"/>
              </a:rPr>
              <a:t>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9A7E7D-7C41-4255-8521-459BE8FC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24150"/>
            <a:ext cx="3733800" cy="67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Сілтеме жасалған мән кестеде болуы керек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FC4B58-67CC-4C25-A714-0C933CCE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49650"/>
            <a:ext cx="209550" cy="67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4281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67D1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0867D1"/>
                </a:solidFill>
                <a:latin typeface="DejaVu Sans"/>
                <a:ea typeface="DejaVu Sans"/>
                <a:cs typeface="DejaVu Sans"/>
              </a:rPr>
              <a:t>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F9E77F-36D1-4E4F-BAE1-5C1CBE05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530600"/>
            <a:ext cx="3733800" cy="67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ON DELETE RESTRICT ата-аналық жолды қорғауға көмектеседі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B37296-9E00-4B2D-826E-C778FD7F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56100"/>
            <a:ext cx="209550" cy="67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4281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67D1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0867D1"/>
                </a:solidFill>
                <a:latin typeface="DejaVu Sans"/>
                <a:ea typeface="DejaVu Sans"/>
                <a:cs typeface="DejaVu Sans"/>
              </a:rPr>
              <a:t>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47449B-21CC-420F-8F6A-041E33C6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337050"/>
            <a:ext cx="3733800" cy="67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ON DELETE CASCADE тәуелді жолдарды бірге жояды</a:t>
            </a:r>
          </a:p>
        </p:txBody>
      </p:sp>
    </p:spTree>
    <p:extLst>
      <p:ext uri="{BB962C8B-B14F-4D97-AF65-F5344CB8AC3E}">
        <p14:creationId xmlns:p14="http://schemas.microsoft.com/office/powerpoint/2010/main" val="2925007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501EDF-6D33-449B-B84F-FE2FBD120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67D1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0867D1"/>
                </a:solidFill>
                <a:latin typeface="DejaVu Sans"/>
                <a:ea typeface="DejaVu Sans"/>
                <a:cs typeface="DejaVu Sans"/>
              </a:rPr>
              <a:t>БАЙЛАНЫСТАР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16B64C-92DC-4925-B67C-1467EF28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Кестелер арасындағы байланыстар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B02015-4518-4E71-AE76-902054757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57e46784274e28"/>
          <a:stretch xmlns:a="http://schemas.openxmlformats.org/drawingml/2006/main"/>
        </p:blipFill>
        <p:spPr>
          <a:xfrm xmlns:a="http://schemas.openxmlformats.org/drawingml/2006/main">
            <a:off x="10918825" y="6191250"/>
            <a:ext cx="698500" cy="4000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08DCC5-803C-43B8-8BF2-6BFC256A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7184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5E7184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2857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238250"/>
                <a:gridCol w="2857500"/>
                <a:gridCol w="3429000"/>
                <a:gridCol w="3448050"/>
              </a:tblGrid>
              <a:tr h="7143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Байланыс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Мағынасы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SQL-де жүзеге асыру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Мысал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F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1:1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F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Бір жазбаға бір жазба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F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FK + UNIQUE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F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Студент — студенттік билет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F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1:M</a:t>
                      </a:r>
                    </a:p>
                  </a:txBody>
                  <a:tcPr marL="91440" marR="91440" marT="45720" marB="45720"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F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Бір жазбаға бірнеше жазба</a:t>
                      </a:r>
                    </a:p>
                  </a:txBody>
                  <a:tcPr marL="91440" marR="91440" marT="45720" marB="45720"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F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FK көп жағындағы кестеде</a:t>
                      </a:r>
                    </a:p>
                  </a:txBody>
                  <a:tcPr marL="91440" marR="91440" marT="45720" marB="45720"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F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Кафедра — студенттер</a:t>
                      </a:r>
                    </a:p>
                  </a:txBody>
                  <a:tcPr marL="91440" marR="91440" marT="45720" marB="45720">
                    <a:solidFill>
                      <a:srgbClr val="E8F1FB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F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M:N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F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Екі жақта да бірнеше жазба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F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Екі FK бар аралық кесте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F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Студенттер — пәндер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F32AB8-2C9B-4DB7-B60F-68E32D638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7184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E7184"/>
                </a:solidFill>
                <a:latin typeface="DejaVu Sans"/>
                <a:ea typeface="DejaVu Sans"/>
                <a:cs typeface="DejaVu Sans"/>
              </a:rPr>
              <a:t>M:N байланысы тікелей құрылмайды. student_subjects сияқты аралық кесте екі кестенің кілттерін сақтайды.</a:t>
            </a:r>
          </a:p>
        </p:txBody>
      </p:sp>
    </p:spTree>
    <p:extLst>
      <p:ext uri="{BB962C8B-B14F-4D97-AF65-F5344CB8AC3E}">
        <p14:creationId xmlns:p14="http://schemas.microsoft.com/office/powerpoint/2010/main" val="15948885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C69CB2-F6E1-4057-8A71-3E086F0F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FC6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8FC6FF"/>
                </a:solidFill>
                <a:latin typeface="DejaVu Sans"/>
                <a:ea typeface="DejaVu Sans"/>
                <a:cs typeface="DejaVu Sans"/>
              </a:rPr>
              <a:t>ШЕКТЕУЛЕР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22E7B5-02CA-4378-BC02-5E058C8D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SQL шектеулері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09C2B1-F0FC-4CAE-86C6-D3528D5B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96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808957-A165-4BF4-A1D5-6F9EA202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134100"/>
            <a:ext cx="85725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c3916de8b94b95"/>
          <a:stretch xmlns:a="http://schemas.openxmlformats.org/drawingml/2006/main"/>
        </p:blipFill>
        <p:spPr>
          <a:xfrm xmlns:a="http://schemas.openxmlformats.org/drawingml/2006/main">
            <a:off x="10918825" y="6191250"/>
            <a:ext cx="698500" cy="4000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D491D3-8758-42C8-99C1-1CCB37F0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FA7B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8FA7BD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9FA1DC-1C94-4448-86AD-9A627580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6B4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56B4FF"/>
                </a:solidFill>
                <a:latin typeface="DejaVu Sans"/>
                <a:ea typeface="DejaVu Sans"/>
                <a:cs typeface="DejaVu Sans"/>
              </a:rPr>
              <a:t>NOT NULL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3188F3-912A-411F-A6F8-D6A4BBAD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335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Мән міндетті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46E130-37A7-4341-80A6-2C466D37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73355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DD6E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BDD6EA"/>
                </a:solidFill>
                <a:latin typeface="DejaVu Sans Mono"/>
                <a:ea typeface="DejaVu Sans Mono"/>
                <a:cs typeface="DejaVu Sans Mono"/>
              </a:rPr>
              <a:t>full_name VARCHAR(150) NOT NULL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9FE694-3BB2-4D11-AAFA-5F067AD1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6B4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56B4FF"/>
                </a:solidFill>
                <a:latin typeface="DejaVu Sans"/>
                <a:ea typeface="DejaVu Sans"/>
                <a:cs typeface="DejaVu Sans"/>
              </a:rPr>
              <a:t>UNIQUE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C84527-4D1F-4AB5-8092-9713ABD4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1462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Мән қайталанбайды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562CBC-F1FE-4E0B-AD77-B73DB710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714625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DD6E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BDD6EA"/>
                </a:solidFill>
                <a:latin typeface="DejaVu Sans Mono"/>
                <a:ea typeface="DejaVu Sans Mono"/>
                <a:cs typeface="DejaVu Sans Mono"/>
              </a:rPr>
              <a:t>email VARCHAR(150) UNIQUE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62468A-25E8-4562-A8C5-2AD89863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6B4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56B4FF"/>
                </a:solidFill>
                <a:latin typeface="DejaVu Sans"/>
                <a:ea typeface="DejaVu Sans"/>
                <a:cs typeface="DejaVu Sans"/>
              </a:rPr>
              <a:t>CHECK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B14F16-B2CB-43D1-B133-77352442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957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Мән шартқа сәйкес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01A014-87EB-4DC6-8A16-47DF73AD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69570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DD6E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BDD6EA"/>
                </a:solidFill>
                <a:latin typeface="DejaVu Sans Mono"/>
                <a:ea typeface="DejaVu Sans Mono"/>
                <a:cs typeface="DejaVu Sans Mono"/>
              </a:rPr>
              <a:t>CHECK (credits BETWEEN 1 AND 10)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806086-8662-419D-A331-E51C6830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76775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6B4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56B4FF"/>
                </a:solidFill>
                <a:latin typeface="DejaVu Sans"/>
                <a:ea typeface="DejaVu Sans"/>
                <a:cs typeface="DejaVu Sans"/>
              </a:rPr>
              <a:t>DEFAULT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3E39F4-3EC7-4DD1-8F2E-042B37E5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7677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Мән автоматты беріледі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9FA3C8-7606-4B44-9214-EA3F5348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676775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DD6E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BDD6EA"/>
                </a:solidFill>
                <a:latin typeface="DejaVu Sans Mono"/>
                <a:ea typeface="DejaVu Sans Mono"/>
                <a:cs typeface="DejaVu Sans Mono"/>
              </a:rPr>
              <a:t>created_at TIMESTAMP DEFAULT CURRENT_TIMESTAMP</a:t>
            </a:r>
          </a:p>
        </p:txBody>
      </p:sp>
    </p:spTree>
    <p:extLst>
      <p:ext uri="{BB962C8B-B14F-4D97-AF65-F5344CB8AC3E}">
        <p14:creationId xmlns:p14="http://schemas.microsoft.com/office/powerpoint/2010/main" val="17753413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2C977D-0D4D-42F5-8732-4D0E07E3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67D1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0867D1"/>
                </a:solidFill>
                <a:latin typeface="DejaVu Sans"/>
                <a:ea typeface="DejaVu Sans"/>
                <a:cs typeface="DejaVu Sans"/>
              </a:rPr>
              <a:t>ПРАКТИКАЛЫҚ МОДЕЛЬ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A417E8-CEA9-452F-9887-A7D7E0C0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«Университет» деректер қорының құрылымы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2BDEA6-0784-4A86-96E8-149642D7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68dc1ae00b4d01"/>
          <a:stretch xmlns:a="http://schemas.openxmlformats.org/drawingml/2006/main"/>
        </p:blipFill>
        <p:spPr>
          <a:xfrm xmlns:a="http://schemas.openxmlformats.org/drawingml/2006/main">
            <a:off x="10918825" y="6191250"/>
            <a:ext cx="698500" cy="4000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85589F-6DFD-4917-9A18-21156300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7184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5E7184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381250"/>
                <a:gridCol w="2667000"/>
                <a:gridCol w="2667000"/>
                <a:gridCol w="3257550"/>
              </a:tblGrid>
              <a:tr h="6286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Кесте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Бастапқы кілт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Сыртқы кілт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Негізгі шектеулер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F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departments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F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department_id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F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F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department_name UNIQUE, NOT NULL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F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students</a:t>
                      </a:r>
                    </a:p>
                  </a:txBody>
                  <a:tcPr marL="91440" marR="91440" marT="45720" marB="45720"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F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student_id</a:t>
                      </a:r>
                    </a:p>
                  </a:txBody>
                  <a:tcPr marL="91440" marR="91440" marT="45720" marB="45720"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F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department_id</a:t>
                      </a:r>
                    </a:p>
                  </a:txBody>
                  <a:tcPr marL="91440" marR="91440" marT="45720" marB="45720"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F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full_name NOT NULL, email UNIQUE</a:t>
                      </a:r>
                    </a:p>
                  </a:txBody>
                  <a:tcPr marL="91440" marR="91440" marT="45720" marB="45720">
                    <a:solidFill>
                      <a:srgbClr val="E8F1FB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F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subjects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F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subject_id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F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F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subject_name UNIQUE, credits CHECK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F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student_subjects</a:t>
                      </a:r>
                    </a:p>
                  </a:txBody>
                  <a:tcPr marL="91440" marR="91440" marT="45720" marB="45720"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F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student_id + subject_id</a:t>
                      </a:r>
                    </a:p>
                  </a:txBody>
                  <a:tcPr marL="91440" marR="91440" marT="45720" marB="45720"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F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student_id, subject_id</a:t>
                      </a:r>
                    </a:p>
                  </a:txBody>
                  <a:tcPr marL="91440" marR="91440" marT="45720" marB="45720"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F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grade CHECK, екі бағанды PK</a:t>
                      </a:r>
                    </a:p>
                  </a:txBody>
                  <a:tcPr marL="91440" marR="91440" marT="45720" marB="45720">
                    <a:solidFill>
                      <a:srgbClr val="E8F1FB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91379A-D6E5-4997-85E9-529ACCFB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7184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E7184"/>
                </a:solidFill>
                <a:latin typeface="DejaVu Sans"/>
                <a:ea typeface="DejaVu Sans"/>
                <a:cs typeface="DejaVu Sans"/>
              </a:rPr>
              <a:t>Кестелерді құру реті: departments және subjects, кейін students, соңында student_subjects.</a:t>
            </a:r>
          </a:p>
        </p:txBody>
      </p:sp>
    </p:spTree>
    <p:extLst>
      <p:ext uri="{BB962C8B-B14F-4D97-AF65-F5344CB8AC3E}">
        <p14:creationId xmlns:p14="http://schemas.microsoft.com/office/powerpoint/2010/main" val="15193074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6DBE94-1BFD-4D50-B475-F54A23AE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67D1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0867D1"/>
                </a:solidFill>
                <a:latin typeface="DejaVu Sans"/>
                <a:ea typeface="DejaVu Sans"/>
                <a:cs typeface="DejaVu Sans"/>
              </a:rPr>
              <a:t>ТОЛЫҚ SQL КОДЫ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FE4318-9869-42A6-8307-93614DE9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Кестелерді құру: departments және students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FA60CE-8BB2-47AC-B277-EA881F39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5bf4bb11cf49c5"/>
          <a:stretch xmlns:a="http://schemas.openxmlformats.org/drawingml/2006/main"/>
        </p:blipFill>
        <p:spPr>
          <a:xfrm xmlns:a="http://schemas.openxmlformats.org/drawingml/2006/main">
            <a:off x="10918825" y="6191250"/>
            <a:ext cx="698500" cy="4000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DC56D4-ECF8-49F0-B268-3ED7DEAD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7184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5E7184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543228-2806-491A-A230-03F81A5E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23875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7A3A23-24B2-43BC-8412-5D51C9E3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28800"/>
            <a:ext cx="4895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4C0F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74C0FC"/>
                </a:solidFill>
                <a:latin typeface="DejaVu Sans"/>
                <a:ea typeface="DejaVu Sans"/>
                <a:cs typeface="DejaVu Sans"/>
              </a:rPr>
              <a:t>DEPARTMENTS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C1D702-71A8-4F35-B6A1-8CDF828A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4857750" cy="33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rPr>
              <a:t>CREATE TABLE departments (</a:t>
            </a:r>
          </a:p>
          <a:p xmlns:a="http://schemas.openxmlformats.org/drawingml/2006/main">
            <a:pPr algn="l">
              <a:defRPr sz="1125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rPr>
              <a:t>  department_id INTEGER GENERATED ALWAYS AS IDENTITY,</a:t>
            </a:r>
          </a:p>
          <a:p xmlns:a="http://schemas.openxmlformats.org/drawingml/2006/main">
            <a:pPr algn="l">
              <a:defRPr sz="1125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rPr>
              <a:t>  department_name VARCHAR(100) NOT NULL,</a:t>
            </a:r>
          </a:p>
          <a:p xmlns:a="http://schemas.openxmlformats.org/drawingml/2006/main">
            <a:pPr algn="l">
              <a:defRPr sz="1125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rPr>
              <a:t>  CONSTRAINT pk_departments PRIMARY KEY (department_id),</a:t>
            </a:r>
          </a:p>
          <a:p xmlns:a="http://schemas.openxmlformats.org/drawingml/2006/main">
            <a:pPr algn="l">
              <a:defRPr sz="1125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rPr>
              <a:t>  CONSTRAINT uq_department_name UNIQUE (department_name)</a:t>
            </a:r>
          </a:p>
          <a:p xmlns:a="http://schemas.openxmlformats.org/drawingml/2006/main">
            <a:pPr algn="l">
              <a:defRPr sz="1125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rPr>
              <a:t>);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D706D5-E216-4624-A272-3342017D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95450"/>
            <a:ext cx="546735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AC1487-6996-415E-9BE5-B65D17EF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28800"/>
            <a:ext cx="512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4C0F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74C0FC"/>
                </a:solidFill>
                <a:latin typeface="DejaVu Sans"/>
                <a:ea typeface="DejaVu Sans"/>
                <a:cs typeface="DejaVu Sans"/>
              </a:rPr>
              <a:t>STUDENTS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432B3A-B45B-467C-9878-07FB060A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14550"/>
            <a:ext cx="5086350" cy="33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rPr>
              <a:t>CREATE TABLE students (</a:t>
            </a:r>
          </a:p>
          <a:p xmlns:a="http://schemas.openxmlformats.org/drawingml/2006/main">
            <a:pPr algn="l">
              <a:defRPr sz="105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rPr>
              <a:t>  student_id INTEGER GENERATED ALWAYS AS IDENTITY,</a:t>
            </a:r>
          </a:p>
          <a:p xmlns:a="http://schemas.openxmlformats.org/drawingml/2006/main">
            <a:pPr algn="l">
              <a:defRPr sz="105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rPr>
              <a:t>  full_name VARCHAR(150) NOT NULL,</a:t>
            </a:r>
          </a:p>
          <a:p xmlns:a="http://schemas.openxmlformats.org/drawingml/2006/main">
            <a:pPr algn="l">
              <a:defRPr sz="105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rPr>
              <a:t>  birth_date DATE NOT NULL,</a:t>
            </a:r>
          </a:p>
          <a:p xmlns:a="http://schemas.openxmlformats.org/drawingml/2006/main">
            <a:pPr algn="l">
              <a:defRPr sz="105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rPr>
              <a:t>  email VARCHAR(150) UNIQUE,</a:t>
            </a:r>
          </a:p>
          <a:p xmlns:a="http://schemas.openxmlformats.org/drawingml/2006/main">
            <a:pPr algn="l">
              <a:defRPr sz="105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rPr>
              <a:t>  department_id INTEGER NOT NULL,</a:t>
            </a:r>
          </a:p>
          <a:p xmlns:a="http://schemas.openxmlformats.org/drawingml/2006/main">
            <a:pPr algn="l">
              <a:defRPr sz="105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rPr>
              <a:t>  CONSTRAINT pk_students PRIMARY KEY (student_id),</a:t>
            </a:r>
          </a:p>
          <a:p xmlns:a="http://schemas.openxmlformats.org/drawingml/2006/main">
            <a:pPr algn="l">
              <a:defRPr sz="105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rPr>
              <a:t>  CONSTRAINT fk_students_department FOREIGN KEY (department_id)</a:t>
            </a:r>
          </a:p>
          <a:p xmlns:a="http://schemas.openxmlformats.org/drawingml/2006/main">
            <a:pPr algn="l">
              <a:defRPr sz="105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rPr>
              <a:t>    REFERENCES departments(department_id) ON DELETE RESTRICT</a:t>
            </a:r>
          </a:p>
          <a:p xmlns:a="http://schemas.openxmlformats.org/drawingml/2006/main">
            <a:pPr algn="l">
              <a:defRPr sz="105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46991292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557F4D-2CAA-40CF-B46D-A14E4BE0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67D1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0867D1"/>
                </a:solidFill>
                <a:latin typeface="DejaVu Sans"/>
                <a:ea typeface="DejaVu Sans"/>
                <a:cs typeface="DejaVu Sans"/>
              </a:rPr>
              <a:t>ТОЛЫҚ SQL КОДЫ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F0E510-04CC-47EC-942C-25023724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SUBJECTS және аралық кесте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2035D7-2CD2-4A93-AEA6-C7D0C5F7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ff43065cf74a63"/>
          <a:stretch xmlns:a="http://schemas.openxmlformats.org/drawingml/2006/main"/>
        </p:blipFill>
        <p:spPr>
          <a:xfrm xmlns:a="http://schemas.openxmlformats.org/drawingml/2006/main">
            <a:off x="10918825" y="6191250"/>
            <a:ext cx="698500" cy="4000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FCADF6-080F-42A7-811E-26629513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7184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5E7184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EDB467-50EC-48B5-8B17-8AAEF025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04825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6CC982-A3A9-41EF-A8FF-EE851AF4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28800"/>
            <a:ext cx="470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4C0F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74C0FC"/>
                </a:solidFill>
                <a:latin typeface="DejaVu Sans"/>
                <a:ea typeface="DejaVu Sans"/>
                <a:cs typeface="DejaVu Sans"/>
              </a:rPr>
              <a:t>SUBJECTS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525314-F1EB-43F5-88D5-76C6237A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466725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rPr>
              <a:t>CREATE TABLE subjects (</a:t>
            </a:r>
          </a:p>
          <a:p xmlns:a="http://schemas.openxmlformats.org/drawingml/2006/main">
            <a:pPr algn="l">
              <a:defRPr sz="1125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rPr>
              <a:t>  subject_id INTEGER GENERATED ALWAYS AS IDENTITY PRIMARY KEY,</a:t>
            </a:r>
          </a:p>
          <a:p xmlns:a="http://schemas.openxmlformats.org/drawingml/2006/main">
            <a:pPr algn="l">
              <a:defRPr sz="1125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rPr>
              <a:t>  subject_name VARCHAR(150) NOT NULL UNIQUE,</a:t>
            </a:r>
          </a:p>
          <a:p xmlns:a="http://schemas.openxmlformats.org/drawingml/2006/main">
            <a:pPr algn="l">
              <a:defRPr sz="1125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rPr>
              <a:t>  credits INTEGER NOT NULL CHECK (credits BETWEEN 1 AND 10)</a:t>
            </a:r>
          </a:p>
          <a:p xmlns:a="http://schemas.openxmlformats.org/drawingml/2006/main">
            <a:pPr algn="l">
              <a:defRPr sz="1125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rPr>
              <a:t>);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5C004C-9C8C-4988-A94E-46ABC059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95450"/>
            <a:ext cx="56769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24BE89-1B10-4D18-ABB3-FB7AB775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288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4C0F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74C0FC"/>
                </a:solidFill>
                <a:latin typeface="DejaVu Sans"/>
                <a:ea typeface="DejaVu Sans"/>
                <a:cs typeface="DejaVu Sans"/>
              </a:rPr>
              <a:t>STUDENT_SUBJECTS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190522-0446-4A85-85B3-32FAAF41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14550"/>
            <a:ext cx="529590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rPr>
              <a:t>CREATE TABLE student_subjects (</a:t>
            </a:r>
          </a:p>
          <a:p xmlns:a="http://schemas.openxmlformats.org/drawingml/2006/main">
            <a:pPr algn="l">
              <a:defRPr sz="975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rPr>
              <a:t>  student_id INTEGER NOT NULL,</a:t>
            </a:r>
          </a:p>
          <a:p xmlns:a="http://schemas.openxmlformats.org/drawingml/2006/main">
            <a:pPr algn="l">
              <a:defRPr sz="975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rPr>
              <a:t>  subject_id INTEGER NOT NULL,</a:t>
            </a:r>
          </a:p>
          <a:p xmlns:a="http://schemas.openxmlformats.org/drawingml/2006/main">
            <a:pPr algn="l">
              <a:defRPr sz="975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rPr>
              <a:t>  enrollment_date DATE NOT NULL DEFAULT CURRENT_DATE,</a:t>
            </a:r>
          </a:p>
          <a:p xmlns:a="http://schemas.openxmlformats.org/drawingml/2006/main">
            <a:pPr algn="l">
              <a:defRPr sz="975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rPr>
              <a:t>  grade NUMERIC(5,2),</a:t>
            </a:r>
          </a:p>
          <a:p xmlns:a="http://schemas.openxmlformats.org/drawingml/2006/main">
            <a:pPr algn="l">
              <a:defRPr sz="975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rPr>
              <a:t>  PRIMARY KEY (student_id, subject_id),</a:t>
            </a:r>
          </a:p>
          <a:p xmlns:a="http://schemas.openxmlformats.org/drawingml/2006/main">
            <a:pPr algn="l">
              <a:defRPr sz="975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rPr>
              <a:t>  FOREIGN KEY (student_id) REFERENCES students(student_id) ON DELETE CASCADE,</a:t>
            </a:r>
          </a:p>
          <a:p xmlns:a="http://schemas.openxmlformats.org/drawingml/2006/main">
            <a:pPr algn="l">
              <a:defRPr sz="975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rPr>
              <a:t>  FOREIGN KEY (subject_id) REFERENCES subjects(subject_id),</a:t>
            </a:r>
          </a:p>
          <a:p xmlns:a="http://schemas.openxmlformats.org/drawingml/2006/main">
            <a:pPr algn="l">
              <a:defRPr sz="975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rPr>
              <a:t>  CHECK (grade IS NULL OR grade BETWEEN 0 AND 100)</a:t>
            </a:r>
          </a:p>
          <a:p xmlns:a="http://schemas.openxmlformats.org/drawingml/2006/main">
            <a:pPr algn="l">
              <a:defRPr sz="975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rPr>
              <a:t>);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1BA5F0-E71E-4E64-A9D9-99726D52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7184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E7184"/>
                </a:solidFill>
                <a:latin typeface="DejaVu Sans"/>
                <a:ea typeface="DejaVu Sans"/>
                <a:cs typeface="DejaVu Sans"/>
              </a:rPr>
              <a:t>Құрамдас PRIMARY KEY бір студенттің бір пәнге екі рет тіркелуіне жол бермейді.</a:t>
            </a:r>
          </a:p>
        </p:txBody>
      </p:sp>
    </p:spTree>
    <p:extLst>
      <p:ext uri="{BB962C8B-B14F-4D97-AF65-F5344CB8AC3E}">
        <p14:creationId xmlns:p14="http://schemas.microsoft.com/office/powerpoint/2010/main" val="128970805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10CEF6-4FB1-4365-91B2-1AC2785C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67D1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0867D1"/>
                </a:solidFill>
                <a:latin typeface="DejaVu Sans"/>
                <a:ea typeface="DejaVu Sans"/>
                <a:cs typeface="DejaVu Sans"/>
              </a:rPr>
              <a:t>DDL ПРАКТИКАСЫ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E1CE75-8E70-4C3E-8AAD-5D6C1F81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ALTER TABLE арқылы құрылымды өзгерту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2149AF-D57D-45AF-8285-94CB3DD7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0046af1e304cd8"/>
          <a:stretch xmlns:a="http://schemas.openxmlformats.org/drawingml/2006/main"/>
        </p:blipFill>
        <p:spPr>
          <a:xfrm xmlns:a="http://schemas.openxmlformats.org/drawingml/2006/main">
            <a:off x="10918825" y="6191250"/>
            <a:ext cx="698500" cy="4000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9A4B9B-EFA7-48E4-A8A1-9C89131F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7184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5E7184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1A88C6-A139-4F24-8364-E40E2C28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5810250" cy="42862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4E974C-173D-424C-B065-1EE44838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0225"/>
            <a:ext cx="546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4C0F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74C0FC"/>
                </a:solidFill>
                <a:latin typeface="DejaVu Sans"/>
                <a:ea typeface="DejaVu Sans"/>
                <a:cs typeface="DejaVu Sans"/>
              </a:rPr>
              <a:t>НЕГІЗГІ ОПЕРАЦИЯЛАР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63F099-788F-4685-9728-14D82785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85975"/>
            <a:ext cx="5429250" cy="373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rPr>
              <a:t>ALTER TABLE students</a:t>
            </a:r>
          </a:p>
          <a:p xmlns:a="http://schemas.openxmlformats.org/drawingml/2006/main">
            <a:pPr algn="l">
              <a:defRPr sz="120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rPr>
              <a:t>ADD COLUMN phone VARCHAR(20);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rPr>
              <a:t>ALTER TABLE students</a:t>
            </a:r>
          </a:p>
          <a:p xmlns:a="http://schemas.openxmlformats.org/drawingml/2006/main">
            <a:pPr algn="l">
              <a:defRPr sz="120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rPr>
              <a:t>ALTER COLUMN phone TYPE VARCHAR(30);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rPr>
              <a:t>ALTER TABLE students</a:t>
            </a:r>
          </a:p>
          <a:p xmlns:a="http://schemas.openxmlformats.org/drawingml/2006/main">
            <a:pPr algn="l">
              <a:defRPr sz="120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rPr>
              <a:t>ADD CONSTRAINT chk_name_length</a:t>
            </a:r>
          </a:p>
          <a:p xmlns:a="http://schemas.openxmlformats.org/drawingml/2006/main">
            <a:pPr algn="l">
              <a:defRPr sz="120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rPr>
              <a:t>CHECK (char_length(full_name) &gt;= 3);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rPr>
              <a:t>ALTER TABLE students</a:t>
            </a:r>
          </a:p>
          <a:p xmlns:a="http://schemas.openxmlformats.org/drawingml/2006/main">
            <a:pPr algn="l">
              <a:defRPr sz="120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rPr>
              <a:t>DROP COLUMN phone;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4c78a77a7b49d8"/>
          <a:srcRect xmlns:a="http://schemas.openxmlformats.org/drawingml/2006/main" l="0" t="19136" r="0" b="191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53250" y="1666875"/>
            <a:ext cx="4629150" cy="4286250"/>
          </a:xfrm>
          <a:prstGeom xmlns:a="http://schemas.openxmlformats.org/drawingml/2006/main" prst="roundRect">
            <a:avLst>
              <a:gd name="adj" fmla="val 3111"/>
            </a:avLst>
          </a:prstGeom>
        </p:spPr>
      </p:pic>
    </p:spTree>
    <p:extLst>
      <p:ext uri="{BB962C8B-B14F-4D97-AF65-F5344CB8AC3E}">
        <p14:creationId xmlns:p14="http://schemas.microsoft.com/office/powerpoint/2010/main" val="131995679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E8D6E7-5F17-4640-8B59-8DC2950E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67D1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0867D1"/>
                </a:solidFill>
                <a:latin typeface="DejaVu Sans"/>
                <a:ea typeface="DejaVu Sans"/>
                <a:cs typeface="DejaVu Sans"/>
              </a:rPr>
              <a:t>САЛЫСТЫРУ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AE9BEC-76F1-4326-B388-BC34769F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DELETE, TRUNCATE және DROP айырмашылығы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8E17FC-057F-4D23-9A05-E96CB47B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8d9bc3659346e3"/>
          <a:stretch xmlns:a="http://schemas.openxmlformats.org/drawingml/2006/main"/>
        </p:blipFill>
        <p:spPr>
          <a:xfrm xmlns:a="http://schemas.openxmlformats.org/drawingml/2006/main">
            <a:off x="10918825" y="6191250"/>
            <a:ext cx="698500" cy="4000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9B4C42-578C-469D-9D89-70AEBDCE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7184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5E7184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2857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095500"/>
                <a:gridCol w="3619500"/>
                <a:gridCol w="2476500"/>
                <a:gridCol w="2781300"/>
              </a:tblGrid>
              <a:tr h="7143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Команда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Не жойылады?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Кесте сақтала ма?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WHERE қолдануға бола ма?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F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DELETE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F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Таңдалған немесе барлық жол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F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Иә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F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Иә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F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TRUNCATE</a:t>
                      </a:r>
                    </a:p>
                  </a:txBody>
                  <a:tcPr marL="91440" marR="91440" marT="45720" marB="45720"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F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Барлық жол</a:t>
                      </a:r>
                    </a:p>
                  </a:txBody>
                  <a:tcPr marL="91440" marR="91440" marT="45720" marB="45720"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F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Иә</a:t>
                      </a:r>
                    </a:p>
                  </a:txBody>
                  <a:tcPr marL="91440" marR="91440" marT="45720" marB="45720"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F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Жоқ</a:t>
                      </a:r>
                    </a:p>
                  </a:txBody>
                  <a:tcPr marL="91440" marR="91440" marT="45720" marB="45720">
                    <a:solidFill>
                      <a:srgbClr val="E8F1FB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F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DROP TABLE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F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Кесте, құрылым және мәлімет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F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Жоқ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F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Жоқ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EB3E3C-1B35-484D-9E14-0ED5D2CA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7239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C4C9F5-E1F7-4920-925C-0BAF6E47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3875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rPr>
              <a:t>TRUNCATE TABLE students RESTART IDENTITY;</a:t>
            </a:r>
          </a:p>
          <a:p xmlns:a="http://schemas.openxmlformats.org/drawingml/2006/main">
            <a:pPr algn="l">
              <a:defRPr sz="1275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E9F3FC"/>
                </a:solidFill>
                <a:latin typeface="DejaVu Sans Mono"/>
                <a:ea typeface="DejaVu Sans Mono"/>
                <a:cs typeface="DejaVu Sans Mono"/>
              </a:rPr>
              <a:t>DROP TABLE IF EXISTS student_subjects;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AE20CA-7A93-43C4-866A-D7492036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292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05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93D4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B93D4A"/>
                </a:solidFill>
                <a:latin typeface="DejaVu Sans"/>
                <a:ea typeface="DejaVu Sans"/>
                <a:cs typeface="DejaVu Sans"/>
              </a:rPr>
              <a:t>DROP және CASCADE командаларын тәуелді объектілерді тексергеннен кейін ғана орындаңыз.</a:t>
            </a:r>
          </a:p>
        </p:txBody>
      </p:sp>
    </p:spTree>
    <p:extLst>
      <p:ext uri="{BB962C8B-B14F-4D97-AF65-F5344CB8AC3E}">
        <p14:creationId xmlns:p14="http://schemas.microsoft.com/office/powerpoint/2010/main" val="94221016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F7E665-D5C2-48A0-A702-8DB0E3C1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67D1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0867D1"/>
                </a:solidFill>
                <a:latin typeface="DejaVu Sans"/>
                <a:ea typeface="DejaVu Sans"/>
                <a:cs typeface="DejaVu Sans"/>
              </a:rPr>
              <a:t>ТЕСТІЛЕУ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AAD7A6-59E0-4FCC-984D-91143645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Шектеулердің жұмысын тексеру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03AB41-F52D-4A08-8AD4-7257B73F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660a3eb35549de"/>
          <a:stretch xmlns:a="http://schemas.openxmlformats.org/drawingml/2006/main"/>
        </p:blipFill>
        <p:spPr>
          <a:xfrm xmlns:a="http://schemas.openxmlformats.org/drawingml/2006/main">
            <a:off x="10918825" y="6191250"/>
            <a:ext cx="698500" cy="4000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33D13E-1D49-4089-BED8-AF191B1E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7184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5E7184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3816F8-0DD1-4DF5-8266-C56DFD63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67D1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867D1"/>
                </a:solidFill>
                <a:latin typeface="DejaVu Sans"/>
                <a:ea typeface="DejaVu Sans"/>
                <a:cs typeface="DejaVu Sans"/>
              </a:rPr>
              <a:t>FOREIGN KEY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7A79E2-BEFB-4037-A6F0-4AF6D047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666875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department_id = 999 енгізу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0E1E3D-8065-4DBB-B488-3243CB6E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66875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7184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E7184"/>
                </a:solidFill>
                <a:latin typeface="DejaVu Sans"/>
                <a:ea typeface="DejaVu Sans"/>
                <a:cs typeface="DejaVu Sans"/>
              </a:rPr>
              <a:t>Кафедра жоқ болғандықтан қате шығады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8DC197-74AC-4C12-B33A-FDC69DFB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5267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28170E-2E04-486C-8FAA-0F6809DA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67D1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867D1"/>
                </a:solidFill>
                <a:latin typeface="DejaVu Sans"/>
                <a:ea typeface="DejaVu Sans"/>
                <a:cs typeface="DejaVu Sans"/>
              </a:rPr>
              <a:t>UNIQUE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952380-7A5E-4E3D-A9D7-FFFC6078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6700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Бір email-ді екінші рет енгізу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2D25FE-FFE4-4AA2-A3DA-BCBE8891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670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7184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E7184"/>
                </a:solidFill>
                <a:latin typeface="DejaVu Sans"/>
                <a:ea typeface="DejaVu Sans"/>
                <a:cs typeface="DejaVu Sans"/>
              </a:rPr>
              <a:t>Қайталанатын мән қабылданбайды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DE23A4-9BA3-4D0E-9D1E-E6E675DE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56F993-3E06-4FB8-AAFF-6A6AAD22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67D1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867D1"/>
                </a:solidFill>
                <a:latin typeface="DejaVu Sans"/>
                <a:ea typeface="DejaVu Sans"/>
                <a:cs typeface="DejaVu Sans"/>
              </a:rPr>
              <a:t>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C36CC1-EE11-48AC-B02F-9B776505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67125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credits = 15 енгізу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A20D4D-CB37-4DFA-B7CF-2FEAD90DC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67125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7184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E7184"/>
                </a:solidFill>
                <a:latin typeface="DejaVu Sans"/>
                <a:ea typeface="DejaVu Sans"/>
                <a:cs typeface="DejaVu Sans"/>
              </a:rPr>
              <a:t>1–10 аралығынан тыс мән қабылданбайды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ED5449-AA6F-4EDB-89AA-1BE4CE6F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5292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633231-DC3F-44E6-8553-66FB4AFE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67D1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867D1"/>
                </a:solidFill>
                <a:latin typeface="DejaVu Sans"/>
                <a:ea typeface="DejaVu Sans"/>
                <a:cs typeface="DejaVu Sans"/>
              </a:rPr>
              <a:t>PRIMARY KEY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97C38F-3B85-4A72-BD77-90EAA004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66725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59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Бір студент пен пән жұбын қайталау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313555-75DD-43BB-A364-C8AA0C07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67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7184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E7184"/>
                </a:solidFill>
                <a:latin typeface="DejaVu Sans"/>
                <a:ea typeface="DejaVu Sans"/>
                <a:cs typeface="DejaVu Sans"/>
              </a:rPr>
              <a:t>Құрамдас кілт қайталануға тыйым салады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32F0E5-C60C-49C6-9896-B2CECD76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530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9238551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6F51A3-F7EB-4326-BE08-C9F4D5B2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FC6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8FC6FF"/>
                </a:solidFill>
                <a:latin typeface="DejaVu Sans"/>
                <a:ea typeface="DejaVu Sans"/>
                <a:cs typeface="DejaVu Sans"/>
              </a:rPr>
              <a:t>ЗЖ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2446F1-9E5C-40E4-B9B7-65E6880B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Зертханалық тапсырма және бағалау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073CD9-CAC1-4C8F-B6DD-173C22A6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96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10FA68-5FF7-4B71-ADAC-F1C6973B9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134100"/>
            <a:ext cx="85725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2f575609a94872"/>
          <a:stretch xmlns:a="http://schemas.openxmlformats.org/drawingml/2006/main"/>
        </p:blipFill>
        <p:spPr>
          <a:xfrm xmlns:a="http://schemas.openxmlformats.org/drawingml/2006/main">
            <a:off x="10918825" y="6191250"/>
            <a:ext cx="698500" cy="4000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099A10-7009-416F-B838-C70736DA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FA7B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8FA7BD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22DB20-11F8-4EFE-929B-3FD5EA65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Орындау қажет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C140DB-D33F-4EEE-93AC-5221438C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209550" cy="49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4281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67D1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0867D1"/>
                </a:solidFill>
                <a:latin typeface="DejaVu Sans"/>
                <a:ea typeface="DejaVu Sans"/>
                <a:cs typeface="DejaVu Sans"/>
              </a:rPr>
              <a:t>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5300A6-1A41-4E2D-B884-2BC7D3CA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4972050" cy="49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Кемінде 4 байланысқан кесте құру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260203-6220-4728-801C-C3BE2632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78125"/>
            <a:ext cx="209550" cy="49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4281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67D1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0867D1"/>
                </a:solidFill>
                <a:latin typeface="DejaVu Sans"/>
                <a:ea typeface="DejaVu Sans"/>
                <a:cs typeface="DejaVu Sans"/>
              </a:rPr>
              <a:t>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19C0AC-BF5F-429C-8F12-E80F0EC4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59075"/>
            <a:ext cx="4972050" cy="49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PRIMARY KEY және кемінде 3 FOREIGN KEY орнату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623A65-D8DC-48A4-9034-7D8B2166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6450"/>
            <a:ext cx="209550" cy="49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4281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67D1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0867D1"/>
                </a:solidFill>
                <a:latin typeface="DejaVu Sans"/>
                <a:ea typeface="DejaVu Sans"/>
                <a:cs typeface="DejaVu Sans"/>
              </a:rPr>
              <a:t>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00B2B2-2951-4023-8B87-DFE56298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27400"/>
            <a:ext cx="4972050" cy="49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NOT NULL, UNIQUE, CHECK, DEFAULT қолдану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E4E7C2-6352-49B2-B363-F296F973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209550" cy="49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4281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67D1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0867D1"/>
                </a:solidFill>
                <a:latin typeface="DejaVu Sans"/>
                <a:ea typeface="DejaVu Sans"/>
                <a:cs typeface="DejaVu Sans"/>
              </a:rPr>
              <a:t>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E667F5-E6C6-46DE-982A-9C7E9EAF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95725"/>
            <a:ext cx="4972050" cy="49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ALTER TABLE арқылы баған және шектеу қосу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59AC12-503F-4945-B59C-DEA5CDAA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83100"/>
            <a:ext cx="209550" cy="49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4281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67D1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0867D1"/>
                </a:solidFill>
                <a:latin typeface="DejaVu Sans"/>
                <a:ea typeface="DejaVu Sans"/>
                <a:cs typeface="DejaVu Sans"/>
              </a:rPr>
              <a:t>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611757-B74B-44FC-B729-1BCA105E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64050"/>
            <a:ext cx="4972050" cy="49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Шектеулерді қате мәліметпен тексеру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F771F2-6A16-46E3-966B-517155D8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51425"/>
            <a:ext cx="209550" cy="49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4281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67D1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0867D1"/>
                </a:solidFill>
                <a:latin typeface="DejaVu Sans"/>
                <a:ea typeface="DejaVu Sans"/>
                <a:cs typeface="DejaVu Sans"/>
              </a:rPr>
              <a:t>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01BD11-DB1A-4F4B-BB6A-005DB338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32375"/>
            <a:ext cx="4972050" cy="49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376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SQL кодын, нәтижелерді және қорытындыны есепке қосу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6667500" y="1762125"/>
          <a:ext xmlns:a="http://schemas.openxmlformats.org/drawingml/2006/main" cx="428625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1143000"/>
              </a:tblGrid>
              <a:tr h="53067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Бағалау критерийі</a:t>
                      </a:r>
                    </a:p>
                  </a:txBody>
                  <a:tcPr marL="91440" marR="91440" marT="45720" marB="45720">
                    <a:solidFill>
                      <a:srgbClr val="0867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Балл</a:t>
                      </a:r>
                    </a:p>
                  </a:txBody>
                  <a:tcPr marL="91440" marR="91440" marT="45720" marB="45720">
                    <a:solidFill>
                      <a:srgbClr val="0867D1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Кестелер мен типтер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PK, FK және байланыстар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25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Тұтастық шектеулері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ALTER және DROP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Тестілеу және түсіндіру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Барлығы</a:t>
                      </a:r>
                    </a:p>
                  </a:txBody>
                  <a:tcPr marL="91440" marR="91440" marT="45720" marB="45720">
                    <a:solidFill>
                      <a:srgbClr val="173B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100</a:t>
                      </a:r>
                    </a:p>
                  </a:txBody>
                  <a:tcPr marL="91440" marR="91440" marT="45720" marB="45720">
                    <a:solidFill>
                      <a:srgbClr val="173B5B"/>
                    </a:solidFill>
                  </a:tcPr>
                </a:tc>
              </a:tr>
            </a:tbl>
          </a:graphicData>
        </a:graphic>
      </p:graphicFrame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775FE9-EA81-4D20-8403-5F8AB53C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097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DD6E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BDD6EA"/>
                </a:solidFill>
                <a:latin typeface="DejaVu Sans"/>
                <a:ea typeface="DejaVu Sans"/>
                <a:cs typeface="DejaVu Sans"/>
              </a:rPr>
              <a:t>Нәтиже: кестелердің құрылымы дұрыс, байланыстар тұтас және SQL командалары түсіндірілген болуы керек.</a:t>
            </a:r>
          </a:p>
        </p:txBody>
      </p:sp>
    </p:spTree>
    <p:extLst>
      <p:ext uri="{BB962C8B-B14F-4D97-AF65-F5344CB8AC3E}">
        <p14:creationId xmlns:p14="http://schemas.microsoft.com/office/powerpoint/2010/main" val="573888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2026-09-16T03:21:08.2440000Z</dcterms:created>
  <dcterms:modified xsi:type="dcterms:W3CDTF">2026-09-16T03:21:08.2440000Z</dcterms:modified>
</coreProperties>
</file>